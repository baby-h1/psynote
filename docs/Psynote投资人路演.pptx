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资金用途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6366F1"/>
              </a:solidFill>
              <a:effectLst/>
            </c:spPr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产品研发</c:v>
                </c:pt>
                <c:pt idx="1">
                  <c:v>市场推广</c:v>
                </c:pt>
                <c:pt idx="2">
                  <c:v>运营 &amp; 人才</c:v>
                </c:pt>
                <c:pt idx="3">
                  <c:v>合规 &amp; 储备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image" Target="../media/image-9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18288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0058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Psynote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463040" y="1783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驱动的心理服务管理平台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463040" y="2560320"/>
            <a:ext cx="18288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146304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为心理咨询机构提供全流程数字化解决方案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6304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种子轮融资路演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行业痛点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心理咨询行业正面临数字化转型的迫切需求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74904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4630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916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管理效率低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1965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纸质记录、Excel 管理个案，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信息分散、检索困难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474720" y="1645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291840" y="22402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仍用纸质/Excel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54880" y="1463040"/>
            <a:ext cx="374904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463040"/>
            <a:ext cx="64008" cy="14630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9164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合规风险高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486400" y="1965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知情同意、数据隐私难以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系统化管理和追溯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589520" y="1645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45%</a:t>
            </a:r>
            <a:endParaRPr lang="en-US" sz="2800" dirty="0"/>
          </a:p>
        </p:txBody>
      </p:sp>
      <p:sp>
        <p:nvSpPr>
          <p:cNvPr id="18" name="Text 14"/>
          <p:cNvSpPr/>
          <p:nvPr/>
        </p:nvSpPr>
        <p:spPr>
          <a:xfrm>
            <a:off x="7406640" y="22402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缺乏合规流程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40080" y="3200400"/>
            <a:ext cx="374904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200400"/>
            <a:ext cx="64008" cy="14630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29000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7160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效果难量化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371600" y="37033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缺乏标准化测评工具，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治疗效果无法持续追踪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474720" y="3383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2800" dirty="0"/>
          </a:p>
        </p:txBody>
      </p:sp>
      <p:sp>
        <p:nvSpPr>
          <p:cNvPr id="25" name="Text 20"/>
          <p:cNvSpPr/>
          <p:nvPr/>
        </p:nvSpPr>
        <p:spPr>
          <a:xfrm>
            <a:off x="3291840" y="39776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无数字化测评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754880" y="3200400"/>
            <a:ext cx="374904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754880" y="3200400"/>
            <a:ext cx="64008" cy="14630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42900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8640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服务模式单一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5486400" y="37033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个体咨询为主，团辅、课程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等服务难以规模化管理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589520" y="3383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3x</a:t>
            </a:r>
            <a:endParaRPr lang="en-US" sz="2800" dirty="0"/>
          </a:p>
        </p:txBody>
      </p:sp>
      <p:sp>
        <p:nvSpPr>
          <p:cNvPr id="32" name="Text 26"/>
          <p:cNvSpPr/>
          <p:nvPr/>
        </p:nvSpPr>
        <p:spPr>
          <a:xfrm>
            <a:off x="7406640" y="39776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团辅需求增长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我们的解决方案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一站式 AI 心理服务管理平台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2560320" cy="1417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智能个案管理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辅助记录、治疗计划生成、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风险评估自动化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74720" y="1508760"/>
            <a:ext cx="2560320" cy="1417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6916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专业知识库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65760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量表、协议、方案模板一键复用，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 + 智能导入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309360" y="1508760"/>
            <a:ext cx="2560320" cy="1417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9164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9224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全流程测评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49224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创建量表、批量施测、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自动评分与报告生成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40080" y="3200400"/>
            <a:ext cx="2560320" cy="1417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38328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2960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团辅 &amp; 课程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2296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团辅方案 OKR 设计、活动管理、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课程创作与发布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3474720" y="3200400"/>
            <a:ext cx="2560320" cy="1417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38328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657600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合规与安全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365760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电子签署、审计追踪、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权限与数据隔离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309360" y="3200400"/>
            <a:ext cx="2560320" cy="1417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383280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492240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来访者门户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649224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自助预约、在线测评、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协议签署、课程学习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核心能力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深度融入每个工作环节，不是功能叠加，而是流程重构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017520" cy="3200400"/>
          </a:xfrm>
          <a:prstGeom prst="rect">
            <a:avLst/>
          </a:prstGeom>
          <a:solidFill>
            <a:srgbClr val="F0FD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73736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246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AI-First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65A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设计理念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不是在传统系统上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加一层 AI 包装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50876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89120" y="14447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生成会谈记录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58368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基于对话自动生成 SOAP/DAP 格式笔记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2020824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389120" y="19568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创建量表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583680" y="1975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描述需求即可生成专业心理测评量表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2532888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38912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设计团辅方案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583680" y="2487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对话式生成完整 OKR + 多次活动方案</a:t>
            </a:r>
            <a:endParaRPr lang="en-US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3044952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389120" y="29809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辅助治疗计划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6583680" y="2999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基于个案信息智能推荐治疗目标与干预策略</a:t>
            </a:r>
            <a:endParaRPr lang="en-US" sz="1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0" y="3557016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389120" y="3493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合规协议生成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6583680" y="3511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自动生成知情同意书等合规文书</a:t>
            </a:r>
            <a:endParaRPr lang="en-US" sz="10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3360" y="4069080"/>
            <a:ext cx="228600" cy="2286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389120" y="4005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课程蓝图设计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658368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一键生成课程大纲、章节与教学内容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市场机会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005840"/>
            <a:ext cx="2377440" cy="2377440"/>
          </a:xfrm>
          <a:prstGeom prst="ellipse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554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1874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660亿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中国心理健康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服务市场规模(2025)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11880" y="1234440"/>
            <a:ext cx="1920240" cy="1920240"/>
          </a:xfrm>
          <a:prstGeom prst="ellipse">
            <a:avLst/>
          </a:prstGeom>
          <a:solidFill>
            <a:srgbClr val="14B8A6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023360" y="1554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0" y="1874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120亿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74904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心理咨询机构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数字化服务市场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1463040" cy="1463040"/>
          </a:xfrm>
          <a:prstGeom prst="ellipse">
            <a:avLst/>
          </a:prstGeom>
          <a:solidFill>
            <a:srgbClr val="F59E0B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554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1874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8亿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1792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首批目标: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高校+社会机构 SaaS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7863840" cy="109728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840480"/>
            <a:ext cx="182880" cy="1828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97280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政策驱动: 社会心理服务体系建设纳入国策</a:t>
            </a:r>
            <a:endParaRPr lang="en-US" sz="11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840480"/>
            <a:ext cx="182880" cy="1828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029200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需求激增: 后疫情时代心理健康意识大幅提升</a:t>
            </a:r>
            <a:endParaRPr lang="en-US" sz="11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51960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9728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人才扩容: 心理咨询师持证人数年增 20%+</a:t>
            </a:r>
            <a:endParaRPr lang="en-US" sz="11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4251960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02920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数字化窗口: 行业信息化率不足 15%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商业模式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订阅 + 增值服务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56032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256032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00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获客入口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免费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个活跃个案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基础测评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单咨询师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1417320"/>
            <a:ext cx="2560320" cy="2926080"/>
          </a:xfrm>
          <a:prstGeom prst="rect">
            <a:avLst/>
          </a:prstGeom>
          <a:solidFill>
            <a:srgbClr val="0F3D3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141732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1600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核心营收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专业版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299/月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657600" y="2697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元/月/咨询师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无限个案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全量测评 + 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团队协作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1417320"/>
            <a:ext cx="256032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141732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1600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高价值客户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9224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机构版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9224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定制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492240" y="2697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元/月起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多部门管理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高级合规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集成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竞争优势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为什么是我们？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863840" cy="7315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64008" cy="731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002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架构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200400" y="15087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不是附加功能，而是从底层设计的核心引擎。每个模块都有 AI 辅助，从量表创建到方案设计全链路覆盖。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28600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286000"/>
            <a:ext cx="64008" cy="731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4688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全流程覆盖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200400" y="2377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市场唯一同时覆盖个案、测评、团辅、课程、合规的一站式平台，避免多系统切换的效率损耗。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3154680"/>
            <a:ext cx="7863840" cy="7315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3154680"/>
            <a:ext cx="64008" cy="731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3375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数据闭环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200400" y="32461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测评数据、会谈记录、治疗计划互通，形成完整的数据资产，为效果追踪和科研提供基础。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0080" y="4023360"/>
            <a:ext cx="64008" cy="731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0624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6304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快速迭代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3200400" y="41148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创始团队兼具心理学专业背景与全栈工程能力，产品已完成核心功能开发，可快速响应市场反馈。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发展路线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78638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69164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86000"/>
            <a:ext cx="182880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286000"/>
            <a:ext cx="18288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Q3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产品验证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310896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上线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首批 5 家机构试用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核心功能打磨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169164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Shape 10"/>
          <p:cNvSpPr/>
          <p:nvPr/>
        </p:nvSpPr>
        <p:spPr>
          <a:xfrm>
            <a:off x="2834640" y="2286000"/>
            <a:ext cx="182880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34640" y="2286000"/>
            <a:ext cx="18288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283464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Q4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2697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市场启动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71800" y="310896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高校心理中心切入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付费机构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打磨 PMF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0" y="169164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4846320" y="2286000"/>
            <a:ext cx="182880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2286000"/>
            <a:ext cx="1828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H1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697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规模增长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83480" y="310896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机构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API 生态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 Pre-A 融资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98080" y="1691640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0" y="2286000"/>
            <a:ext cx="182880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0" y="2286000"/>
            <a:ext cx="18288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H2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2697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生态拓展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95160" y="310896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B2B2C 来访者服务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培训认证体系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数据科研合作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融资计划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种子轮 | 目标融资 300 万元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71600"/>
          <a:ext cx="3657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个月关键里程碑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05740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208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产品正式上线 + 首批付费用户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69748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12080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签约 20+ 机构，覆盖 200+ 咨询师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33756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21208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月营收突破 10 万元，验证 PMF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977640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212080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 Pre-A 轮融资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0"/>
            <a:ext cx="54864" cy="5143500"/>
          </a:xfrm>
          <a:prstGeom prst="rect">
            <a:avLst/>
          </a:prstGeom>
          <a:solidFill>
            <a:srgbClr val="0D9488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0"/>
            <a:ext cx="54864" cy="5143500"/>
          </a:xfrm>
          <a:prstGeom prst="rect">
            <a:avLst/>
          </a:prstGeom>
          <a:solidFill>
            <a:srgbClr val="0D9488">
              <a:alpha val="7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73152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194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让每一次心理服务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都有据可循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931920" y="3291840"/>
            <a:ext cx="128016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Psynote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Psychological Care Management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联系我们  |  期待与您深入交流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Psynote - AI驱动的心理服务管理平台</dc:title>
  <dc:subject>PptxGenJS Presentation</dc:subject>
  <dc:creator>Psynote</dc:creator>
  <cp:lastModifiedBy>Psynote</cp:lastModifiedBy>
  <cp:revision>1</cp:revision>
  <dcterms:created xsi:type="dcterms:W3CDTF">2026-04-06T11:44:33Z</dcterms:created>
  <dcterms:modified xsi:type="dcterms:W3CDTF">2026-04-06T11:44:33Z</dcterms:modified>
</cp:coreProperties>
</file>